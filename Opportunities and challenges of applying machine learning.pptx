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"/>
  </p:notesMasterIdLst>
  <p:sldIdLst>
    <p:sldId id="256" r:id="rId2"/>
    <p:sldId id="305" r:id="rId3"/>
    <p:sldId id="302" r:id="rId4"/>
    <p:sldId id="308" r:id="rId5"/>
    <p:sldId id="309" r:id="rId6"/>
    <p:sldId id="266" r:id="rId7"/>
  </p:sldIdLst>
  <p:sldSz cx="12192000" cy="6858000"/>
  <p:notesSz cx="6858000" cy="9144000"/>
  <p:defaultTextStyle>
    <a:defPPr>
      <a:defRPr lang="en-US"/>
    </a:defPPr>
    <a:lvl1pPr marL="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403A"/>
    <a:srgbClr val="0083AC"/>
    <a:srgbClr val="1A8FB4"/>
    <a:srgbClr val="E7E7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E93843-09A9-1D44-A004-9BE889710151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A00E58-C459-9E42-8DFF-CFA5526CB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9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Te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9A6104-0CC4-20B2-4517-B42845ACB1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356364" cy="6858000"/>
          </a:xfrm>
          <a:solidFill>
            <a:srgbClr val="1A8FB4"/>
          </a:solidFill>
        </p:spPr>
        <p:txBody>
          <a:bodyPr/>
          <a:lstStyle>
            <a:lvl1pPr marL="0" indent="0">
              <a:buNone/>
              <a:defRPr/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1"/>
            <a:r>
              <a:rPr lang="en-US"/>
              <a:t>Click icon to add picture</a:t>
            </a:r>
            <a:endParaRPr lang="en-NZ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B8B0D131-9E50-107A-B063-B0D59F622B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3419" y="2547258"/>
            <a:ext cx="7329588" cy="1555820"/>
          </a:xfrm>
        </p:spPr>
        <p:txBody>
          <a:bodyPr lIns="0" tIns="0" rIns="0" bIns="0" anchor="t">
            <a:noAutofit/>
          </a:bodyPr>
          <a:lstStyle>
            <a:lvl1pPr>
              <a:lnSpc>
                <a:spcPts val="4849"/>
              </a:lnSpc>
              <a:defRPr sz="48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lang="en-NZ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D280691-737B-CA80-FF27-866CC70F7E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63419" y="4349262"/>
            <a:ext cx="7343738" cy="1336370"/>
          </a:xfrm>
        </p:spPr>
        <p:txBody>
          <a:bodyPr/>
          <a:lstStyle>
            <a:lvl1pPr>
              <a:lnSpc>
                <a:spcPts val="4121"/>
              </a:lnSpc>
              <a:spcAft>
                <a:spcPts val="0"/>
              </a:spcAft>
              <a:defRPr sz="36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3734" baseline="0">
                <a:latin typeface="Amasis MT Pro Light" panose="02040304050005020304" pitchFamily="18" charset="0"/>
              </a:defRPr>
            </a:lvl2pPr>
            <a:lvl3pPr>
              <a:defRPr sz="3734" baseline="0">
                <a:latin typeface="Amasis MT Pro Light" panose="02040304050005020304" pitchFamily="18" charset="0"/>
              </a:defRPr>
            </a:lvl3pPr>
            <a:lvl4pPr>
              <a:defRPr sz="3734" baseline="0">
                <a:latin typeface="Amasis MT Pro Light" panose="02040304050005020304" pitchFamily="18" charset="0"/>
              </a:defRPr>
            </a:lvl4pPr>
            <a:lvl5pPr>
              <a:defRPr sz="3734" baseline="0">
                <a:latin typeface="Amasis MT Pro Light" panose="02040304050005020304" pitchFamily="18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17AB2D2-7803-B59F-38F1-7C3C785362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63418" y="6112519"/>
            <a:ext cx="6490855" cy="436418"/>
          </a:xfrm>
        </p:spPr>
        <p:txBody>
          <a:bodyPr/>
          <a:lstStyle>
            <a:lvl1pPr>
              <a:lnSpc>
                <a:spcPts val="1552"/>
              </a:lnSpc>
              <a:defRPr sz="1600" b="0" cap="all" spc="146" baseline="0">
                <a:solidFill>
                  <a:schemeClr val="bg1"/>
                </a:solidFill>
                <a:latin typeface="Arial Nova Cond" panose="020B0506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NZ" dirty="0"/>
              <a:t>DATE / VERSION</a:t>
            </a:r>
          </a:p>
        </p:txBody>
      </p:sp>
      <p:pic>
        <p:nvPicPr>
          <p:cNvPr id="2" name="Picture 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3D491016-C17B-B189-EBA9-21C3582178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9990" y="521087"/>
            <a:ext cx="2941615" cy="1103620"/>
          </a:xfrm>
          <a:prstGeom prst="rect">
            <a:avLst/>
          </a:prstGeom>
        </p:spPr>
      </p:pic>
      <p:pic>
        <p:nvPicPr>
          <p:cNvPr id="9" name="Picture 8" descr="A blue and white pattern&#10;&#10;Description automatically generated">
            <a:extLst>
              <a:ext uri="{FF2B5EF4-FFF2-40B4-BE49-F238E27FC236}">
                <a16:creationId xmlns:a16="http://schemas.microsoft.com/office/drawing/2014/main" id="{5219FA31-8C9A-4851-C95B-8FBD0C932F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6364" y="0"/>
            <a:ext cx="12131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558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17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eal change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9A6104-0CC4-20B2-4517-B42845ACB1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03637" y="0"/>
            <a:ext cx="3988364" cy="6858000"/>
          </a:xfrm>
          <a:solidFill>
            <a:srgbClr val="1A8FB4"/>
          </a:solidFill>
        </p:spPr>
        <p:txBody>
          <a:bodyPr/>
          <a:lstStyle>
            <a:lvl1pPr marL="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1"/>
            <a:r>
              <a:rPr lang="en-US"/>
              <a:t>Click icon to add picture</a:t>
            </a:r>
            <a:endParaRPr lang="en-NZ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B8B0D131-9E50-107A-B063-B0D59F622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55" y="3796938"/>
            <a:ext cx="6109091" cy="1325781"/>
          </a:xfrm>
        </p:spPr>
        <p:txBody>
          <a:bodyPr lIns="0" tIns="0" rIns="0" bIns="0" anchor="t">
            <a:noAutofit/>
          </a:bodyPr>
          <a:lstStyle>
            <a:lvl1pPr>
              <a:lnSpc>
                <a:spcPts val="4509"/>
              </a:lnSpc>
              <a:defRPr sz="36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NZ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17AB2D2-7803-B59F-38F1-7C3C785362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5055" y="576472"/>
            <a:ext cx="6109091" cy="550863"/>
          </a:xfrm>
        </p:spPr>
        <p:txBody>
          <a:bodyPr/>
          <a:lstStyle>
            <a:lvl1pPr>
              <a:defRPr sz="1600" cap="all" spc="146" baseline="0">
                <a:solidFill>
                  <a:schemeClr val="bg1"/>
                </a:solidFill>
                <a:latin typeface="Arial Nova Cond" panose="020B0506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NZ" dirty="0"/>
              <a:t>Section tag 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FFFA83D-E12C-5F9C-EA1F-A130A41752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5055" y="5394291"/>
            <a:ext cx="6109091" cy="1336370"/>
          </a:xfrm>
        </p:spPr>
        <p:txBody>
          <a:bodyPr/>
          <a:lstStyle>
            <a:lvl1pPr>
              <a:lnSpc>
                <a:spcPts val="1794"/>
              </a:lnSpc>
              <a:spcAft>
                <a:spcPts val="0"/>
              </a:spcAft>
              <a:defRPr sz="16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3734" baseline="0">
                <a:latin typeface="Amasis MT Pro Light" panose="02040304050005020304" pitchFamily="18" charset="0"/>
              </a:defRPr>
            </a:lvl2pPr>
            <a:lvl3pPr>
              <a:defRPr sz="3734" baseline="0">
                <a:latin typeface="Amasis MT Pro Light" panose="02040304050005020304" pitchFamily="18" charset="0"/>
              </a:defRPr>
            </a:lvl3pPr>
            <a:lvl4pPr>
              <a:defRPr sz="3734" baseline="0">
                <a:latin typeface="Amasis MT Pro Light" panose="02040304050005020304" pitchFamily="18" charset="0"/>
              </a:defRPr>
            </a:lvl4pPr>
            <a:lvl5pPr>
              <a:defRPr sz="3734" baseline="0">
                <a:latin typeface="Amasis MT Pro Light" panose="020403040500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A blue and white pattern&#10;&#10;Description automatically generated">
            <a:extLst>
              <a:ext uri="{FF2B5EF4-FFF2-40B4-BE49-F238E27FC236}">
                <a16:creationId xmlns:a16="http://schemas.microsoft.com/office/drawing/2014/main" id="{C9DAAB5F-8E95-F4C3-321B-FCD814A1BE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0533" y="0"/>
            <a:ext cx="12131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320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and 2 columns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320D74D1-E991-9758-6A0B-010CBE2C1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72401"/>
            <a:ext cx="10791092" cy="916966"/>
          </a:xfrm>
        </p:spPr>
        <p:txBody>
          <a:bodyPr/>
          <a:lstStyle>
            <a:lvl1pPr>
              <a:lnSpc>
                <a:spcPts val="4170"/>
              </a:lnSpc>
              <a:defRPr sz="3600" baseline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NZ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BBDB501C-36BB-D34E-7023-AD1652416F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1" y="2160000"/>
            <a:ext cx="5236364" cy="4050000"/>
          </a:xfr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ts val="1794"/>
              </a:lnSpc>
              <a:defRPr sz="1800"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0" indent="0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6pPr>
          </a:lstStyle>
          <a:p>
            <a:pPr lvl="0"/>
            <a:r>
              <a:rPr lang="en-US" dirty="0"/>
              <a:t>Sub heading</a:t>
            </a:r>
          </a:p>
          <a:p>
            <a:pPr lvl="1"/>
            <a:r>
              <a:rPr lang="en-US" dirty="0"/>
              <a:t>Intro copy</a:t>
            </a:r>
          </a:p>
          <a:p>
            <a:pPr lvl="2"/>
            <a:r>
              <a:rPr lang="en-US" dirty="0"/>
              <a:t>Body copy</a:t>
            </a:r>
          </a:p>
          <a:p>
            <a:pPr lvl="3"/>
            <a:r>
              <a:rPr lang="en-US" dirty="0"/>
              <a:t>Bullet 1</a:t>
            </a:r>
          </a:p>
          <a:p>
            <a:pPr lvl="4"/>
            <a:r>
              <a:rPr lang="en-US" dirty="0"/>
              <a:t>Bullet 2</a:t>
            </a:r>
          </a:p>
          <a:p>
            <a:pPr lvl="5"/>
            <a:r>
              <a:rPr lang="en-US" dirty="0"/>
              <a:t>Bullet 3</a:t>
            </a:r>
          </a:p>
        </p:txBody>
      </p:sp>
      <p:sp>
        <p:nvSpPr>
          <p:cNvPr id="4" name="Text Placeholder 27">
            <a:extLst>
              <a:ext uri="{FF2B5EF4-FFF2-40B4-BE49-F238E27FC236}">
                <a16:creationId xmlns:a16="http://schemas.microsoft.com/office/drawing/2014/main" id="{84E04542-BEF1-76AD-D711-8BB274FD4A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62182" y="2160000"/>
            <a:ext cx="5236364" cy="4050000"/>
          </a:xfr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ts val="1794"/>
              </a:lnSpc>
              <a:defRPr sz="1800"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0" indent="0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6pPr>
          </a:lstStyle>
          <a:p>
            <a:pPr lvl="0"/>
            <a:r>
              <a:rPr lang="en-US" dirty="0"/>
              <a:t>Sub heading</a:t>
            </a:r>
          </a:p>
          <a:p>
            <a:pPr lvl="1"/>
            <a:r>
              <a:rPr lang="en-US" dirty="0"/>
              <a:t>Intro copy</a:t>
            </a:r>
          </a:p>
          <a:p>
            <a:pPr lvl="2"/>
            <a:r>
              <a:rPr lang="en-US" dirty="0"/>
              <a:t>Body copy</a:t>
            </a:r>
          </a:p>
          <a:p>
            <a:pPr lvl="3"/>
            <a:r>
              <a:rPr lang="en-US" dirty="0"/>
              <a:t>Bullet 1</a:t>
            </a:r>
          </a:p>
          <a:p>
            <a:pPr lvl="4"/>
            <a:r>
              <a:rPr lang="en-US" dirty="0"/>
              <a:t>Bullet 2</a:t>
            </a:r>
          </a:p>
          <a:p>
            <a:pPr lvl="5"/>
            <a:r>
              <a:rPr lang="en-US" dirty="0"/>
              <a:t>Bullet 3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BEBB549-2754-EDF3-6576-8195B9AB9A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96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021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/ FP text single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320D74D1-E991-9758-6A0B-010CBE2C1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72401"/>
            <a:ext cx="10791092" cy="916966"/>
          </a:xfrm>
        </p:spPr>
        <p:txBody>
          <a:bodyPr/>
          <a:lstStyle>
            <a:lvl1pPr>
              <a:lnSpc>
                <a:spcPts val="4170"/>
              </a:lnSpc>
              <a:defRPr sz="3600" baseline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NZ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BBDB501C-36BB-D34E-7023-AD1652416F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2160000"/>
            <a:ext cx="10791092" cy="4050000"/>
          </a:xfr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ts val="1794"/>
              </a:lnSpc>
              <a:defRPr sz="1800"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0" indent="0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6pPr>
          </a:lstStyle>
          <a:p>
            <a:pPr lvl="0"/>
            <a:r>
              <a:rPr lang="en-US" dirty="0"/>
              <a:t>Sub heading</a:t>
            </a:r>
          </a:p>
          <a:p>
            <a:pPr lvl="1"/>
            <a:r>
              <a:rPr lang="en-US" dirty="0"/>
              <a:t>Intro copy</a:t>
            </a:r>
          </a:p>
          <a:p>
            <a:pPr lvl="2"/>
            <a:r>
              <a:rPr lang="en-US" dirty="0"/>
              <a:t>Body copy</a:t>
            </a:r>
          </a:p>
          <a:p>
            <a:pPr lvl="3"/>
            <a:r>
              <a:rPr lang="en-US" dirty="0"/>
              <a:t>Bullet 1</a:t>
            </a:r>
          </a:p>
          <a:p>
            <a:pPr lvl="4"/>
            <a:r>
              <a:rPr lang="en-US" dirty="0"/>
              <a:t>Bullet 2</a:t>
            </a:r>
          </a:p>
          <a:p>
            <a:pPr lvl="5"/>
            <a:r>
              <a:rPr lang="en-US" dirty="0"/>
              <a:t>Bullet 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A7095C-A690-C0BE-6B1C-2F6D8C6799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96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8626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24C84A2-D13B-71CE-196F-F991EE22B460}"/>
              </a:ext>
            </a:extLst>
          </p:cNvPr>
          <p:cNvSpPr/>
          <p:nvPr userDrawn="1"/>
        </p:nvSpPr>
        <p:spPr>
          <a:xfrm>
            <a:off x="0" y="0"/>
            <a:ext cx="9771888" cy="6858000"/>
          </a:xfrm>
          <a:prstGeom prst="rect">
            <a:avLst/>
          </a:prstGeom>
          <a:solidFill>
            <a:srgbClr val="1A8F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29A223E-3682-3F22-B2E7-3C477CBF3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346" y="1904400"/>
            <a:ext cx="7971870" cy="1940769"/>
          </a:xfrm>
        </p:spPr>
        <p:txBody>
          <a:bodyPr/>
          <a:lstStyle>
            <a:lvl1pPr>
              <a:lnSpc>
                <a:spcPts val="4121"/>
              </a:lnSpc>
              <a:defRPr sz="36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text</a:t>
            </a:r>
            <a:endParaRPr lang="en-NZ" dirty="0"/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E357BF1B-2CE1-0605-0570-E8E250A772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658" y="5054987"/>
            <a:ext cx="4320000" cy="1620755"/>
          </a:xfrm>
          <a:prstGeom prst="rect">
            <a:avLst/>
          </a:prstGeom>
        </p:spPr>
      </p:pic>
      <p:pic>
        <p:nvPicPr>
          <p:cNvPr id="2" name="Picture 1" descr="A blue and black pattern&#10;&#10;Description automatically generated">
            <a:extLst>
              <a:ext uri="{FF2B5EF4-FFF2-40B4-BE49-F238E27FC236}">
                <a16:creationId xmlns:a16="http://schemas.microsoft.com/office/drawing/2014/main" id="{0881D5F1-A10B-A3ED-435F-A4ED7AC6D4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888" y="0"/>
            <a:ext cx="24201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309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583222"/>
            <a:ext cx="10515600" cy="91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2162175"/>
            <a:ext cx="10515600" cy="405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Sub heading</a:t>
            </a:r>
          </a:p>
          <a:p>
            <a:pPr lvl="1"/>
            <a:r>
              <a:rPr lang="en-US" dirty="0"/>
              <a:t>Intro copy</a:t>
            </a:r>
          </a:p>
          <a:p>
            <a:pPr lvl="2"/>
            <a:r>
              <a:rPr lang="en-US" dirty="0"/>
              <a:t>Body copy</a:t>
            </a:r>
          </a:p>
          <a:p>
            <a:pPr lvl="3"/>
            <a:r>
              <a:rPr lang="en-US" dirty="0"/>
              <a:t>Bullets</a:t>
            </a:r>
          </a:p>
          <a:p>
            <a:pPr lvl="4"/>
            <a:r>
              <a:rPr lang="en-US" dirty="0"/>
              <a:t>Sub-bullet</a:t>
            </a:r>
          </a:p>
          <a:p>
            <a:pPr lvl="5"/>
            <a:r>
              <a:rPr lang="en-US" dirty="0"/>
              <a:t>Sub-bullet</a:t>
            </a:r>
          </a:p>
          <a:p>
            <a:pPr lvl="5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6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5460B8-16D0-40E0-A7F9-25021907F207}" type="datetimeFigureOut">
              <a:rPr lang="en-NZ" smtClean="0"/>
              <a:t>16/11/2025</a:t>
            </a:fld>
            <a:endParaRPr lang="en-N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16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16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8BD53-CA7E-45EF-9CC3-B0B5A136C6A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56205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5" r:id="rId2"/>
    <p:sldLayoutId id="2147483701" r:id="rId3"/>
    <p:sldLayoutId id="2147483808" r:id="rId4"/>
    <p:sldLayoutId id="2147483689" r:id="rId5"/>
  </p:sldLayoutIdLst>
  <p:txStyles>
    <p:titleStyle>
      <a:lvl1pPr algn="l" defTabSz="886694" rtl="0" eaLnBrk="1" latinLnBrk="0" hangingPunct="1">
        <a:lnSpc>
          <a:spcPts val="4849"/>
        </a:lnSpc>
        <a:spcBef>
          <a:spcPct val="0"/>
        </a:spcBef>
        <a:buNone/>
        <a:defRPr sz="3734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221674" rtl="0" eaLnBrk="1" latinLnBrk="0" hangingPunct="1">
        <a:lnSpc>
          <a:spcPts val="24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 baseline="0">
          <a:solidFill>
            <a:srgbClr val="0083AC"/>
          </a:solidFill>
          <a:latin typeface="+mj-lt"/>
          <a:ea typeface="+mn-ea"/>
          <a:cs typeface="+mn-cs"/>
        </a:defRPr>
      </a:lvl1pPr>
      <a:lvl2pPr marL="0" indent="0" algn="l" defTabSz="221674" rtl="0" eaLnBrk="1" latinLnBrk="0" hangingPunct="1">
        <a:lnSpc>
          <a:spcPts val="2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kern="1200" baseline="0">
          <a:solidFill>
            <a:srgbClr val="3F403A"/>
          </a:solidFill>
          <a:latin typeface="+mj-lt"/>
          <a:ea typeface="+mn-ea"/>
          <a:cs typeface="+mn-cs"/>
        </a:defRPr>
      </a:lvl2pPr>
      <a:lvl3pPr marL="0" indent="0" algn="l" defTabSz="221674" rtl="0" eaLnBrk="1" latinLnBrk="0" hangingPunct="1">
        <a:lnSpc>
          <a:spcPts val="18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221674" indent="-221674" algn="l" defTabSz="221674" rtl="0" eaLnBrk="1" latinLnBrk="0" hangingPunct="1">
        <a:lnSpc>
          <a:spcPts val="18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443347" indent="-221674" algn="l" defTabSz="221674" rtl="0" eaLnBrk="1" latinLnBrk="0" hangingPunct="1">
        <a:lnSpc>
          <a:spcPts val="1800"/>
        </a:lnSpc>
        <a:spcBef>
          <a:spcPts val="0"/>
        </a:spcBef>
        <a:spcAft>
          <a:spcPts val="600"/>
        </a:spcAft>
        <a:buFont typeface="Avenir Next LT Pro" panose="020B0504020202020204" pitchFamily="34" charset="0"/>
        <a:buChar char="–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665021" indent="-221674" algn="l" defTabSz="221674" rtl="0" eaLnBrk="1" latinLnBrk="0" hangingPunct="1">
        <a:lnSpc>
          <a:spcPts val="18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-"/>
        <a:defRPr lang="en-US" sz="1400" kern="1200" cap="none" spc="0" baseline="0" dirty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886694" rtl="0" eaLnBrk="1" latinLnBrk="0" hangingPunct="1">
        <a:lnSpc>
          <a:spcPts val="1794"/>
        </a:lnSpc>
        <a:spcBef>
          <a:spcPts val="340"/>
        </a:spcBef>
        <a:spcAft>
          <a:spcPts val="340"/>
        </a:spcAft>
        <a:buFont typeface="Arial" panose="020B0604020202020204" pitchFamily="34" charset="0"/>
        <a:buNone/>
        <a:defRPr sz="1455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886694" rtl="0" eaLnBrk="1" latinLnBrk="0" hangingPunct="1">
        <a:lnSpc>
          <a:spcPts val="1794"/>
        </a:lnSpc>
        <a:spcBef>
          <a:spcPts val="340"/>
        </a:spcBef>
        <a:spcAft>
          <a:spcPts val="340"/>
        </a:spcAft>
        <a:buFont typeface="Arial" panose="020B0604020202020204" pitchFamily="34" charset="0"/>
        <a:buNone/>
        <a:defRPr sz="1455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886694" rtl="0" eaLnBrk="1" latinLnBrk="0" hangingPunct="1">
        <a:lnSpc>
          <a:spcPts val="1794"/>
        </a:lnSpc>
        <a:spcBef>
          <a:spcPts val="340"/>
        </a:spcBef>
        <a:spcAft>
          <a:spcPts val="340"/>
        </a:spcAft>
        <a:buFont typeface="Arial" panose="020B0604020202020204" pitchFamily="34" charset="0"/>
        <a:buNone/>
        <a:defRPr sz="14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6694" rtl="0" eaLnBrk="1" latinLnBrk="0" hangingPunct="1">
        <a:defRPr sz="1745" kern="1200">
          <a:solidFill>
            <a:schemeClr val="tx1"/>
          </a:solidFill>
          <a:latin typeface="+mn-lt"/>
          <a:ea typeface="+mn-ea"/>
          <a:cs typeface="+mn-cs"/>
        </a:defRPr>
      </a:lvl1pPr>
      <a:lvl2pPr marL="443347" algn="l" defTabSz="886694" rtl="0" eaLnBrk="1" latinLnBrk="0" hangingPunct="1">
        <a:defRPr sz="1745" kern="1200">
          <a:solidFill>
            <a:schemeClr val="tx1"/>
          </a:solidFill>
          <a:latin typeface="+mn-lt"/>
          <a:ea typeface="+mn-ea"/>
          <a:cs typeface="+mn-cs"/>
        </a:defRPr>
      </a:lvl2pPr>
      <a:lvl3pPr marL="886694" algn="l" defTabSz="886694" rtl="0" eaLnBrk="1" latinLnBrk="0" hangingPunct="1">
        <a:defRPr sz="1745" kern="1200">
          <a:solidFill>
            <a:schemeClr val="tx1"/>
          </a:solidFill>
          <a:latin typeface="+mn-lt"/>
          <a:ea typeface="+mn-ea"/>
          <a:cs typeface="+mn-cs"/>
        </a:defRPr>
      </a:lvl3pPr>
      <a:lvl4pPr marL="1330041" algn="l" defTabSz="886694" rtl="0" eaLnBrk="1" latinLnBrk="0" hangingPunct="1">
        <a:defRPr sz="1745" kern="1200">
          <a:solidFill>
            <a:schemeClr val="tx1"/>
          </a:solidFill>
          <a:latin typeface="+mn-lt"/>
          <a:ea typeface="+mn-ea"/>
          <a:cs typeface="+mn-cs"/>
        </a:defRPr>
      </a:lvl4pPr>
      <a:lvl5pPr marL="1773388" algn="l" defTabSz="886694" rtl="0" eaLnBrk="1" latinLnBrk="0" hangingPunct="1">
        <a:defRPr sz="1745" kern="1200">
          <a:solidFill>
            <a:schemeClr val="tx1"/>
          </a:solidFill>
          <a:latin typeface="+mn-lt"/>
          <a:ea typeface="+mn-ea"/>
          <a:cs typeface="+mn-cs"/>
        </a:defRPr>
      </a:lvl5pPr>
      <a:lvl6pPr marL="2216734" algn="l" defTabSz="886694" rtl="0" eaLnBrk="1" latinLnBrk="0" hangingPunct="1">
        <a:defRPr sz="1745" kern="1200">
          <a:solidFill>
            <a:schemeClr val="tx1"/>
          </a:solidFill>
          <a:latin typeface="+mn-lt"/>
          <a:ea typeface="+mn-ea"/>
          <a:cs typeface="+mn-cs"/>
        </a:defRPr>
      </a:lvl6pPr>
      <a:lvl7pPr marL="2660081" algn="l" defTabSz="886694" rtl="0" eaLnBrk="1" latinLnBrk="0" hangingPunct="1">
        <a:defRPr sz="1745" kern="1200">
          <a:solidFill>
            <a:schemeClr val="tx1"/>
          </a:solidFill>
          <a:latin typeface="+mn-lt"/>
          <a:ea typeface="+mn-ea"/>
          <a:cs typeface="+mn-cs"/>
        </a:defRPr>
      </a:lvl7pPr>
      <a:lvl8pPr marL="3103428" algn="l" defTabSz="886694" rtl="0" eaLnBrk="1" latinLnBrk="0" hangingPunct="1">
        <a:defRPr sz="1745" kern="1200">
          <a:solidFill>
            <a:schemeClr val="tx1"/>
          </a:solidFill>
          <a:latin typeface="+mn-lt"/>
          <a:ea typeface="+mn-ea"/>
          <a:cs typeface="+mn-cs"/>
        </a:defRPr>
      </a:lvl8pPr>
      <a:lvl9pPr marL="3546775" algn="l" defTabSz="886694" rtl="0" eaLnBrk="1" latinLnBrk="0" hangingPunct="1">
        <a:defRPr sz="17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A foggy mountain with a body of water&#10;&#10;Description automatically generated">
            <a:extLst>
              <a:ext uri="{FF2B5EF4-FFF2-40B4-BE49-F238E27FC236}">
                <a16:creationId xmlns:a16="http://schemas.microsoft.com/office/drawing/2014/main" id="{576BFE20-A592-390D-59A8-466E0EC0B17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1" r="1151"/>
          <a:stretch/>
        </p:blipFill>
        <p:spPr/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4D270B9E-3DAD-8358-21DC-DD6065973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0286" y="1641325"/>
            <a:ext cx="7329588" cy="1555820"/>
          </a:xfrm>
        </p:spPr>
        <p:txBody>
          <a:bodyPr/>
          <a:lstStyle/>
          <a:p>
            <a:r>
              <a:rPr lang="en-NZ" sz="4000" dirty="0"/>
              <a:t>Opportunities and challenges of applying machine learning in social economics studies at the Treasury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43EC08A-CDE2-1E38-8B74-79FED3D2CCE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NZ" dirty="0"/>
              <a:t>Sijin Zhang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F118823-BE1B-F0CB-55A0-8E6417992F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NZ" dirty="0"/>
              <a:t>12 Nov 2025</a:t>
            </a:r>
          </a:p>
        </p:txBody>
      </p:sp>
    </p:spTree>
    <p:extLst>
      <p:ext uri="{BB962C8B-B14F-4D97-AF65-F5344CB8AC3E}">
        <p14:creationId xmlns:p14="http://schemas.microsoft.com/office/powerpoint/2010/main" val="1362387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9E20E9-ACA3-CC70-6EF3-BF68D5927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Treasury’s roles 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A08B5E-DDAF-C7E0-1036-02FBDC8E8D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98072" y="1489367"/>
            <a:ext cx="9254066" cy="4692866"/>
          </a:xfrm>
        </p:spPr>
        <p:txBody>
          <a:bodyPr/>
          <a:lstStyle/>
          <a:p>
            <a:r>
              <a:rPr lang="en-NZ" sz="1800" dirty="0"/>
              <a:t>Lead economic and financial adviser to the Government and steward of the public sector financial management system</a:t>
            </a:r>
          </a:p>
          <a:p>
            <a:r>
              <a:rPr lang="en-NZ" sz="1800" dirty="0"/>
              <a:t>Manage state sector and public finances</a:t>
            </a:r>
          </a:p>
          <a:p>
            <a:r>
              <a:rPr lang="en-NZ" sz="1800" dirty="0"/>
              <a:t>Manage investment and asset performance</a:t>
            </a:r>
          </a:p>
          <a:p>
            <a:r>
              <a:rPr lang="en-NZ" sz="1800" dirty="0"/>
              <a:t>Provide commercial policy advice and execute commercial transactions</a:t>
            </a:r>
          </a:p>
          <a:p>
            <a:r>
              <a:rPr lang="en-NZ" sz="1800" dirty="0"/>
              <a:t>Manage government borrowing requirements and associated financial market activities </a:t>
            </a:r>
          </a:p>
          <a:p>
            <a:r>
              <a:rPr lang="en-NZ" sz="1800" dirty="0"/>
              <a:t>Provide financial guarantees and trade credit insurance to promote and support New Zealand exports, and</a:t>
            </a:r>
          </a:p>
          <a:p>
            <a:r>
              <a:rPr lang="en-NZ" sz="1800" dirty="0"/>
              <a:t>Central agency role – alongside Department of the Prime Minister and Cabinet (DPMC), the Public Service Commission (PSC), the Ministry for Regulation (</a:t>
            </a:r>
            <a:r>
              <a:rPr lang="en-NZ" sz="1800" dirty="0" err="1"/>
              <a:t>MfR</a:t>
            </a:r>
            <a:r>
              <a:rPr lang="en-NZ" sz="1800" dirty="0"/>
              <a:t>), and the Social Investment Agency (SIA)  – providing State sector leadership.</a:t>
            </a:r>
          </a:p>
        </p:txBody>
      </p:sp>
    </p:spTree>
    <p:extLst>
      <p:ext uri="{BB962C8B-B14F-4D97-AF65-F5344CB8AC3E}">
        <p14:creationId xmlns:p14="http://schemas.microsoft.com/office/powerpoint/2010/main" val="3633450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604BB2F-F74A-A51C-6B9D-2D7616EE0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How IDI is used within Treasury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8103CE2-B5AD-056F-FA9A-95760C6D0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79688" y="2159999"/>
            <a:ext cx="5236364" cy="3165533"/>
          </a:xfrm>
        </p:spPr>
        <p:txBody>
          <a:bodyPr/>
          <a:lstStyle/>
          <a:p>
            <a:r>
              <a:rPr lang="en-NZ" dirty="0"/>
              <a:t>Supporting the Treasury’s tax transfer microsimulation model</a:t>
            </a:r>
          </a:p>
          <a:p>
            <a:r>
              <a:rPr lang="en-NZ" dirty="0"/>
              <a:t>Evaluating cross-domain impacts to inform policy design</a:t>
            </a:r>
          </a:p>
          <a:p>
            <a:r>
              <a:rPr lang="en-NZ" dirty="0"/>
              <a:t>Identifying at-risk populations and enabling early interventions</a:t>
            </a:r>
          </a:p>
          <a:p>
            <a:r>
              <a:rPr lang="en-NZ" dirty="0"/>
              <a:t>Contributing to international research and benchmarking</a:t>
            </a:r>
          </a:p>
        </p:txBody>
      </p:sp>
      <p:pic>
        <p:nvPicPr>
          <p:cNvPr id="1026" name="Picture 2" descr="Join our graduate programme | The Treasury New Zealand">
            <a:extLst>
              <a:ext uri="{FF2B5EF4-FFF2-40B4-BE49-F238E27FC236}">
                <a16:creationId xmlns:a16="http://schemas.microsoft.com/office/drawing/2014/main" id="{4F4A71CD-0ACF-0ACA-FD2B-CADF67833F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141" y="1837766"/>
            <a:ext cx="3810000" cy="38100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ow big data can be a force for good | ANZSOG">
            <a:extLst>
              <a:ext uri="{FF2B5EF4-FFF2-40B4-BE49-F238E27FC236}">
                <a16:creationId xmlns:a16="http://schemas.microsoft.com/office/drawing/2014/main" id="{CD2453C6-190E-8992-6A4D-FA25052E2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8226" y="4044419"/>
            <a:ext cx="2978558" cy="210801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1056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94068-D8DC-35E6-CF31-093235837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9847E67-44D2-707A-033D-1A8917441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Opportunities of using AI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9B3C2F1-EBEB-10EA-8162-CBB90B7857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50310" y="1479028"/>
            <a:ext cx="6702378" cy="1350185"/>
          </a:xfrm>
        </p:spPr>
        <p:txBody>
          <a:bodyPr/>
          <a:lstStyle/>
          <a:p>
            <a:r>
              <a:rPr lang="en-NZ" b="1" dirty="0"/>
              <a:t>GenAI: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dirty="0"/>
              <a:t>Productivity enhancement;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dirty="0"/>
              <a:t>Automatic analytics and insights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dirty="0"/>
              <a:t>……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5EF1589-1154-CD08-D5AC-A125E7047060}"/>
              </a:ext>
            </a:extLst>
          </p:cNvPr>
          <p:cNvSpPr txBox="1">
            <a:spLocks/>
          </p:cNvSpPr>
          <p:nvPr/>
        </p:nvSpPr>
        <p:spPr>
          <a:xfrm>
            <a:off x="1450310" y="3543127"/>
            <a:ext cx="7424749" cy="274247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221674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 baseline="0">
                <a:solidFill>
                  <a:srgbClr val="0083A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221674" rtl="0" eaLnBrk="1" latinLnBrk="0" hangingPunct="1">
              <a:lnSpc>
                <a:spcPts val="1794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 baseline="0">
                <a:solidFill>
                  <a:srgbClr val="3F403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221674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221674" indent="-221674" algn="l" defTabSz="221674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443347" indent="-221674" algn="l" defTabSz="221674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Font typeface="Avenir Next LT Pro" panose="020B0504020202020204" pitchFamily="34" charset="0"/>
              <a:buChar char="–"/>
              <a:defRPr sz="140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665021" indent="-221674" algn="l" defTabSz="221674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lang="en-US" sz="1400" kern="1200" cap="none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0" indent="0" algn="l" defTabSz="886694" rtl="0" eaLnBrk="1" latinLnBrk="0" hangingPunct="1">
              <a:lnSpc>
                <a:spcPts val="1794"/>
              </a:lnSpc>
              <a:spcBef>
                <a:spcPts val="340"/>
              </a:spcBef>
              <a:spcAft>
                <a:spcPts val="340"/>
              </a:spcAft>
              <a:buFont typeface="Arial" panose="020B0604020202020204" pitchFamily="34" charset="0"/>
              <a:buNone/>
              <a:defRPr sz="1455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886694" rtl="0" eaLnBrk="1" latinLnBrk="0" hangingPunct="1">
              <a:lnSpc>
                <a:spcPts val="1794"/>
              </a:lnSpc>
              <a:spcBef>
                <a:spcPts val="340"/>
              </a:spcBef>
              <a:spcAft>
                <a:spcPts val="340"/>
              </a:spcAft>
              <a:buFont typeface="Arial" panose="020B0604020202020204" pitchFamily="34" charset="0"/>
              <a:buNone/>
              <a:defRPr sz="14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886694" rtl="0" eaLnBrk="1" latinLnBrk="0" hangingPunct="1">
              <a:lnSpc>
                <a:spcPts val="1794"/>
              </a:lnSpc>
              <a:spcBef>
                <a:spcPts val="340"/>
              </a:spcBef>
              <a:spcAft>
                <a:spcPts val="340"/>
              </a:spcAft>
              <a:buFont typeface="Arial" panose="020B0604020202020204" pitchFamily="34" charset="0"/>
              <a:buNone/>
              <a:defRPr sz="14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Z" b="1" dirty="0"/>
              <a:t>Deep learning/machine learning: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dirty="0"/>
              <a:t>Improve forecasting practice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dirty="0"/>
              <a:t>Behaviour modelling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dirty="0"/>
              <a:t>Impact and intervention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dirty="0"/>
              <a:t>Complex social economics relationships modelling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dirty="0"/>
              <a:t>….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263120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57D1F-9BF8-A1A6-DAC3-50E8E5A6F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8F6F637-38BA-B88F-F3F1-826544BAC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Challenges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8B46836-20FA-1384-5278-A0F65ABB9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55293" y="1363272"/>
            <a:ext cx="9881413" cy="4922327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NZ" sz="1400" b="1" dirty="0"/>
              <a:t>Data sparsity and inconsistency:</a:t>
            </a:r>
            <a:endParaRPr lang="en-NZ" sz="14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NZ" sz="1400" dirty="0"/>
              <a:t>Socio-economic data are often unevenly distributed across time, regions, and population cohorts.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NZ" sz="1400" dirty="0"/>
              <a:t>Randomness in data collection makes direct comparison difficult.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NZ" sz="14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NZ" sz="1400" b="1" dirty="0"/>
              <a:t>Data quality and validation:</a:t>
            </a:r>
            <a:endParaRPr lang="en-NZ" sz="14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NZ" sz="1400" dirty="0"/>
              <a:t>Ensuring quality control is challenging due to the absence of a clear “ground truth.”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NZ" sz="1400" dirty="0"/>
              <a:t>Benchmark datasets or consistent reference standards are often unavailable.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NZ" sz="14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NZ" sz="1400" b="1" dirty="0"/>
              <a:t>Analytical focus:</a:t>
            </a:r>
            <a:endParaRPr lang="en-NZ" sz="14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NZ" sz="1400" dirty="0"/>
              <a:t>In many cases, attention should be given to identifying and understanding outliers, rather than relying solely on average trends. This contrasts with many traditional AI applications, which often down-weight or remove outliers.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NZ" sz="14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NZ" sz="1400" b="1" dirty="0"/>
              <a:t>Cost–benefit considerations:</a:t>
            </a:r>
            <a:endParaRPr lang="en-NZ" sz="14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NZ" sz="1400" dirty="0"/>
              <a:t>The added value of advanced AI or machine-learning techniques in this domain is not always clear.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NZ" sz="1400" dirty="0"/>
              <a:t>Simpler, interpretable methods may yield similar insights at lower cost.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NZ" sz="14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NZ" sz="1400" b="1" dirty="0"/>
              <a:t>Stakeholder engagement and trust:</a:t>
            </a:r>
            <a:endParaRPr lang="en-NZ" sz="14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NZ" sz="1400" dirty="0"/>
              <a:t>Explainability, transparency, and reproducibility remain major concerns for policy-relevant use.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NZ" sz="1400" dirty="0"/>
              <a:t>Effective communication of model limitations is essential for stakeholder confidence and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138638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AA9033E-A0AF-AD8F-9625-31902C4A6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2CD893-4A78-F7C7-D344-72165BF6C9C7}"/>
              </a:ext>
            </a:extLst>
          </p:cNvPr>
          <p:cNvSpPr txBox="1"/>
          <p:nvPr/>
        </p:nvSpPr>
        <p:spPr>
          <a:xfrm>
            <a:off x="872565" y="2562042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1200" dirty="0">
                <a:solidFill>
                  <a:schemeClr val="bg1"/>
                </a:solidFill>
              </a:rPr>
              <a:t>Contact: Sijin.Zhang@Treasury.govt.nz</a:t>
            </a:r>
          </a:p>
        </p:txBody>
      </p:sp>
    </p:spTree>
    <p:extLst>
      <p:ext uri="{BB962C8B-B14F-4D97-AF65-F5344CB8AC3E}">
        <p14:creationId xmlns:p14="http://schemas.microsoft.com/office/powerpoint/2010/main" val="1075171147"/>
      </p:ext>
    </p:extLst>
  </p:cSld>
  <p:clrMapOvr>
    <a:masterClrMapping/>
  </p:clrMapOvr>
</p:sld>
</file>

<file path=ppt/theme/theme1.xml><?xml version="1.0" encoding="utf-8"?>
<a:theme xmlns:a="http://schemas.openxmlformats.org/drawingml/2006/main" name="Treasury Teal">
  <a:themeElements>
    <a:clrScheme name="Tresury">
      <a:dk1>
        <a:sysClr val="windowText" lastClr="000000"/>
      </a:dk1>
      <a:lt1>
        <a:sysClr val="window" lastClr="FFFFFF"/>
      </a:lt1>
      <a:dk2>
        <a:srgbClr val="719771"/>
      </a:dk2>
      <a:lt2>
        <a:srgbClr val="0083AC"/>
      </a:lt2>
      <a:accent1>
        <a:srgbClr val="B04E15"/>
      </a:accent1>
      <a:accent2>
        <a:srgbClr val="F1A42D"/>
      </a:accent2>
      <a:accent3>
        <a:srgbClr val="E5F3F7"/>
      </a:accent3>
      <a:accent4>
        <a:srgbClr val="F1F5F1"/>
      </a:accent4>
      <a:accent5>
        <a:srgbClr val="F7EDE8"/>
      </a:accent5>
      <a:accent6>
        <a:srgbClr val="FEF6EA"/>
      </a:accent6>
      <a:hlink>
        <a:srgbClr val="2D6273"/>
      </a:hlink>
      <a:folHlink>
        <a:srgbClr val="3F403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SY basic template.potx" id="{6C29CDA9-943E-4FC2-9000-7947328D3B7C}" vid="{A8F48C66-90E6-4DBE-A0DE-A6835222D75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TSY basic template</Template>
  <TotalTime>335</TotalTime>
  <Words>373</Words>
  <Application>Microsoft Office PowerPoint</Application>
  <PresentationFormat>Widescreen</PresentationFormat>
  <Paragraphs>48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Amasis MT Pro Light</vt:lpstr>
      <vt:lpstr>Arial</vt:lpstr>
      <vt:lpstr>Arial Nova Cond</vt:lpstr>
      <vt:lpstr>Avenir Next LT Pro</vt:lpstr>
      <vt:lpstr>Calibri</vt:lpstr>
      <vt:lpstr>Treasury Teal</vt:lpstr>
      <vt:lpstr>Opportunities and challenges of applying machine learning in social economics studies at the Treasury</vt:lpstr>
      <vt:lpstr>Treasury’s roles ?</vt:lpstr>
      <vt:lpstr>How IDI is used within Treasury</vt:lpstr>
      <vt:lpstr>Opportunities of using AI</vt:lpstr>
      <vt:lpstr>Challenges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Sijin Zhang [TSY]</dc:creator>
  <cp:lastModifiedBy>Sijin Zhang [TSY]</cp:lastModifiedBy>
  <cp:revision>6</cp:revision>
  <dcterms:created xsi:type="dcterms:W3CDTF">2025-11-10T22:01:53Z</dcterms:created>
  <dcterms:modified xsi:type="dcterms:W3CDTF">2025-11-15T19:40:45Z</dcterms:modified>
  <cp:contentStatus/>
</cp:coreProperties>
</file>